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NPC and our project: LLMGUARD, an automated multi-agent pre-release verification platform for LLM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NPC and LLMGUARD, an automated multi-agent pre-release verification platform for LLM systems. Three risks on the left; the platform principles on the right (R1–R12 in the design). Highlight: agents propose, deterministic code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stage commits an event to the hash-chained ledger: CLAIM_RECORDED, TEST_CASE_DRAFTED, RUN_RECORDED, VERDICT_RECORDED, FAILURE_RECORDED, DECISION_RECORDED, SIGNOFF_RECORDED.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Surfaces: direct/indirect injection, RAG poisoning, tool misuse, memory poisoning. Paired runs: seeded-defect variant tests sensitivity, clean control tests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interval relative to the declared threshold matters. Per-metric failure rates use exact 95% Clopper–Pearson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Telemetry levels describe how much visibility we have into the target: from black-box HTTP to gateway-level egress monitoring. Close with the demo: uv run python -m qe.demo.pipeline.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Team NPC · LLMGUARD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Team NPC · LLMGUARD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" name="iconbg-FaBullseye"/>
          <p:cNvSpPr/>
          <p:nvPr/>
        </p:nvSpPr>
        <p:spPr>
          <a:xfrm>
            <a:off x="6199632" y="96012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4" name="Image 0" descr="RI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502" y="1062990"/>
            <a:ext cx="205740" cy="2057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822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RISK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60920" y="1508760"/>
            <a:ext cx="0" cy="2286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0" y="173736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iconbg-FaFlask"/>
          <p:cNvSpPr/>
          <p:nvPr/>
        </p:nvSpPr>
        <p:spPr>
          <a:xfrm>
            <a:off x="6199632" y="187452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9" name="Image 1" descr="T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502" y="1977390"/>
            <a:ext cx="205740" cy="2057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66560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60920" y="2423160"/>
            <a:ext cx="0" cy="2286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35040" y="265176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iconbg-FaCheckDouble"/>
          <p:cNvSpPr/>
          <p:nvPr/>
        </p:nvSpPr>
        <p:spPr>
          <a:xfrm>
            <a:off x="6199632" y="278892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4" name="Image 2" descr="VERIF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502" y="289179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0" y="2651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VERIFY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360920" y="3337560"/>
            <a:ext cx="0" cy="2286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35040" y="356616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iconbg-FaRocket"/>
          <p:cNvSpPr/>
          <p:nvPr/>
        </p:nvSpPr>
        <p:spPr>
          <a:xfrm>
            <a:off x="6199632" y="3703320"/>
            <a:ext cx="411480" cy="41148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9" name="Image 3" descr="RELE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502" y="3806190"/>
            <a:ext cx="205740" cy="2057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3566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RELEASE</a:t>
            </a:r>
            <a:endParaRPr lang="en-US" sz="1600" dirty="0"/>
          </a:p>
        </p:txBody>
      </p:sp>
      <p:sp>
        <p:nvSpPr>
          <p:cNvPr id="21" name="iconbg-FaShieldAlt"/>
          <p:cNvSpPr/>
          <p:nvPr/>
        </p:nvSpPr>
        <p:spPr>
          <a:xfrm>
            <a:off x="457200" y="109728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2" name="Image 4" descr="LLMGUARD 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TEAM NPC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2377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LLMGUARD</a:t>
            </a:r>
            <a:endParaRPr lang="en-US" sz="5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3337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Automated pre-release quality &amp; safety verification for LLM applications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Agents propose. Deterministic code executes, measures, and decides.</a:t>
            </a:r>
            <a:endParaRPr lang="en-US" sz="1200" dirty="0"/>
          </a:p>
        </p:txBody>
      </p:sp>
      <p:sp>
        <p:nvSpPr>
          <p:cNvPr id="28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LLMGUARD — Problem &amp;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Automated pre-release quality &amp; safety verification for LLM applications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iconbg-FaExclamationTriangle"/>
          <p:cNvSpPr/>
          <p:nvPr/>
        </p:nvSpPr>
        <p:spPr>
          <a:xfrm>
            <a:off x="594360" y="1856232"/>
            <a:ext cx="457200" cy="457200"/>
          </a:xfrm>
          <a:prstGeom prst="ellipse">
            <a:avLst/>
          </a:prstGeom>
          <a:solidFill>
            <a:srgbClr val="E5533F"/>
          </a:solidFill>
          <a:ln/>
        </p:spPr>
      </p:sp>
      <p:pic>
        <p:nvPicPr>
          <p:cNvPr id="8" name="Image 0" descr="Hallucin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70532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Hallucinations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Wrong or fabricated cited facts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171907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1" name="iconbg-FaBullseye"/>
          <p:cNvSpPr/>
          <p:nvPr/>
        </p:nvSpPr>
        <p:spPr>
          <a:xfrm>
            <a:off x="5532120" y="1856232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2" name="Image 1" descr="Risk-based te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19705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2648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Risk-based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Multi-agent crew writes tests from real risk scenarios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54203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5" name="iconbg-FaUserSecret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5533F"/>
          </a:solidFill>
          <a:ln/>
        </p:spPr>
      </p:sp>
      <p:pic>
        <p:nvPicPr>
          <p:cNvPr id="16" name="Image 2" descr="Prompt inje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79349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Prompt injection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Direct or indirect attacks hijack agent actions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394960" y="254203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iconbg-FaCube"/>
          <p:cNvSpPr/>
          <p:nvPr/>
        </p:nvSpPr>
        <p:spPr>
          <a:xfrm>
            <a:off x="5532120" y="2679192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0" name="Image 3" descr="Sandboxed ru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7934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264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Sandboxed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Egress-controlled execution environment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336499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3" name="iconbg-FaTools"/>
          <p:cNvSpPr/>
          <p:nvPr/>
        </p:nvSpPr>
        <p:spPr>
          <a:xfrm>
            <a:off x="594360" y="3502152"/>
            <a:ext cx="457200" cy="457200"/>
          </a:xfrm>
          <a:prstGeom prst="ellipse">
            <a:avLst/>
          </a:prstGeom>
          <a:solidFill>
            <a:srgbClr val="E5533F"/>
          </a:solidFill>
          <a:ln/>
        </p:spPr>
      </p:sp>
      <p:pic>
        <p:nvPicPr>
          <p:cNvPr id="24" name="Image 4" descr="Tool mis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61645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88720" y="33649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Tool misuse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Unauthorized calls leak data or act unsafely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394960" y="3364992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7" name="iconbg-FaBalanceScale"/>
          <p:cNvSpPr/>
          <p:nvPr/>
        </p:nvSpPr>
        <p:spPr>
          <a:xfrm>
            <a:off x="5532120" y="3502152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8" name="Image 5" descr="Evidence-led verdic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420" y="3616452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126480" y="33649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Evidence-led verdicts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Deterministic checks and statistical intervals decide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3840480" y="2999232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4983480" y="2999232"/>
            <a:ext cx="320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iconbg-FaShieldAlt"/>
          <p:cNvSpPr/>
          <p:nvPr/>
        </p:nvSpPr>
        <p:spPr>
          <a:xfrm>
            <a:off x="4160520" y="2587752"/>
            <a:ext cx="822960" cy="82296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3" name="Image 6" descr="LLMGUARD shiel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260" y="2793492"/>
            <a:ext cx="411480" cy="41148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840480" y="3456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LLMGUARD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Agents propose. Deterministic code executes, measures, and decides.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End-to-End 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32888" cy="3172968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532888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pic>
        <p:nvPicPr>
          <p:cNvPr id="5" name="Image 0" descr="PRE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10515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PREPARE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2763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74650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62763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Target ingestion &amp; access profile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6771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38658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26771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Risk analysis &amp; test planning</a:t>
            </a:r>
            <a:endParaRPr lang="en-US" sz="1200" dirty="0"/>
          </a:p>
        </p:txBody>
      </p:sp>
      <p:pic>
        <p:nvPicPr>
          <p:cNvPr id="15" name="Image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514600"/>
            <a:ext cx="210312" cy="2103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05556" y="1051560"/>
            <a:ext cx="2532888" cy="3172968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3305556" y="1051560"/>
            <a:ext cx="2532888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pic>
        <p:nvPicPr>
          <p:cNvPr id="18" name="Image 2" descr="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16" y="11704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62756" y="10515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396996" y="162763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1" name="Shape 16"/>
          <p:cNvSpPr/>
          <p:nvPr/>
        </p:nvSpPr>
        <p:spPr>
          <a:xfrm>
            <a:off x="3488436" y="174650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488436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899916" y="162763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Dynamic test generation &amp; skeptic gate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396996" y="226771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5" name="Shape 20"/>
          <p:cNvSpPr/>
          <p:nvPr/>
        </p:nvSpPr>
        <p:spPr>
          <a:xfrm>
            <a:off x="3488436" y="238658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488436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3899916" y="226771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Sandboxed execution (pass^k + seeds)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396996" y="290779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9" name="Shape 24"/>
          <p:cNvSpPr/>
          <p:nvPr/>
        </p:nvSpPr>
        <p:spPr>
          <a:xfrm>
            <a:off x="3488436" y="302666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488436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899916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Adversarial &amp; security testing</a:t>
            </a:r>
            <a:endParaRPr lang="en-US" sz="1200" dirty="0"/>
          </a:p>
        </p:txBody>
      </p:sp>
      <p:pic>
        <p:nvPicPr>
          <p:cNvPr id="32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514600"/>
            <a:ext cx="210312" cy="21031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153912" y="1051560"/>
            <a:ext cx="2532888" cy="3172968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/>
        </p:spPr>
      </p:sp>
      <p:sp>
        <p:nvSpPr>
          <p:cNvPr id="34" name="Shape 28"/>
          <p:cNvSpPr/>
          <p:nvPr/>
        </p:nvSpPr>
        <p:spPr>
          <a:xfrm>
            <a:off x="6153912" y="1051560"/>
            <a:ext cx="2532888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pic>
        <p:nvPicPr>
          <p:cNvPr id="35" name="Image 4" descr="VERIFY &amp; DECI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17043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611112" y="105156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 &amp; DECIDE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6245352" y="162763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8" name="Shape 31"/>
          <p:cNvSpPr/>
          <p:nvPr/>
        </p:nvSpPr>
        <p:spPr>
          <a:xfrm>
            <a:off x="6336792" y="174650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6336792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748272" y="162763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Deterministic verification &amp; oracles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245352" y="226771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42" name="Shape 35"/>
          <p:cNvSpPr/>
          <p:nvPr/>
        </p:nvSpPr>
        <p:spPr>
          <a:xfrm>
            <a:off x="6336792" y="238658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6336792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6748272" y="226771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Failure localization (trace → component)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6245352" y="290779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46" name="Shape 39"/>
          <p:cNvSpPr/>
          <p:nvPr/>
        </p:nvSpPr>
        <p:spPr>
          <a:xfrm>
            <a:off x="6336792" y="302666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6336792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6748272" y="290779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Regression admission (minimize + pass^k)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6245352" y="3547872"/>
            <a:ext cx="2350008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50" name="Shape 43"/>
          <p:cNvSpPr/>
          <p:nvPr/>
        </p:nvSpPr>
        <p:spPr>
          <a:xfrm>
            <a:off x="6336792" y="366674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336792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2" name="Text 45"/>
          <p:cNvSpPr txBox="1"/>
          <p:nvPr/>
        </p:nvSpPr>
        <p:spPr>
          <a:xfrm>
            <a:off x="6748272" y="3547872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decision, evidence pack &amp; human sign-off</a:t>
            </a:r>
            <a:endParaRPr lang="en-US" sz="1200" dirty="0"/>
          </a:p>
        </p:txBody>
      </p:sp>
      <p:sp>
        <p:nvSpPr>
          <p:cNvPr id="53" name="Shape 46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tx2"/>
          </a:solidFill>
          <a:ln/>
        </p:spPr>
      </p:sp>
      <p:pic>
        <p:nvPicPr>
          <p:cNvPr id="54" name="Image 5" descr="ledg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425696"/>
            <a:ext cx="164592" cy="164592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841248" y="4315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Hash-chained ledger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CLAIM → TEST_CASE → RUN → VERDICT → FAILURE → DECISION → SIGNOFF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Dynamic Testing &amp; Security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42646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iconbg-FaBullseye"/>
          <p:cNvSpPr/>
          <p:nvPr/>
        </p:nvSpPr>
        <p:spPr>
          <a:xfrm>
            <a:off x="969264" y="1124712"/>
            <a:ext cx="402336" cy="402336"/>
          </a:xfrm>
          <a:prstGeom prst="ellipse">
            <a:avLst/>
          </a:prstGeom>
          <a:solidFill>
            <a:srgbClr val="17352C"/>
          </a:solidFill>
          <a:ln/>
        </p:spPr>
      </p:sp>
      <p:pic>
        <p:nvPicPr>
          <p:cNvPr id="5" name="Image 0" descr="Risk scenarios &amp; clai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22529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Risk scenarios &amp; claims</a:t>
            </a:r>
            <a:endParaRPr lang="en-US" sz="1200" dirty="0"/>
          </a:p>
        </p:txBody>
      </p:sp>
      <p:pic>
        <p:nvPicPr>
          <p:cNvPr id="7" name="Image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1463040"/>
            <a:ext cx="192024" cy="1920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57984" y="1051560"/>
            <a:ext cx="142646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9" name="iconbg-FaRobot"/>
          <p:cNvSpPr/>
          <p:nvPr/>
        </p:nvSpPr>
        <p:spPr>
          <a:xfrm>
            <a:off x="2670048" y="1124712"/>
            <a:ext cx="402336" cy="402336"/>
          </a:xfrm>
          <a:prstGeom prst="ellipse">
            <a:avLst/>
          </a:prstGeom>
          <a:solidFill>
            <a:srgbClr val="17352C"/>
          </a:solidFill>
          <a:ln/>
        </p:spPr>
      </p:sp>
      <p:pic>
        <p:nvPicPr>
          <p:cNvPr id="10" name="Image 2" descr="Author agents (≥2 model families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1225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31136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Author agents (≥2 model families)</a:t>
            </a:r>
            <a:endParaRPr lang="en-US" sz="1200" dirty="0"/>
          </a:p>
        </p:txBody>
      </p:sp>
      <p:pic>
        <p:nvPicPr>
          <p:cNvPr id="12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1463040"/>
            <a:ext cx="192024" cy="1920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58768" y="1051560"/>
            <a:ext cx="142646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iconbg-FaFilter"/>
          <p:cNvSpPr/>
          <p:nvPr/>
        </p:nvSpPr>
        <p:spPr>
          <a:xfrm>
            <a:off x="4370832" y="1124712"/>
            <a:ext cx="402336" cy="402336"/>
          </a:xfrm>
          <a:prstGeom prst="ellipse">
            <a:avLst/>
          </a:prstGeom>
          <a:solidFill>
            <a:srgbClr val="17352C"/>
          </a:solidFill>
          <a:ln/>
        </p:spPr>
      </p:sp>
      <p:pic>
        <p:nvPicPr>
          <p:cNvPr id="15" name="Image 4" descr="Skeptic gate drops weak tes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22529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31920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Skeptic gate drops weak tests</a:t>
            </a:r>
            <a:endParaRPr lang="en-US" sz="1200" dirty="0"/>
          </a:p>
        </p:txBody>
      </p:sp>
      <p:pic>
        <p:nvPicPr>
          <p:cNvPr id="17" name="Image 5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6380" y="1463040"/>
            <a:ext cx="192024" cy="19202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559552" y="1051560"/>
            <a:ext cx="142646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iconbg-FaCube"/>
          <p:cNvSpPr/>
          <p:nvPr/>
        </p:nvSpPr>
        <p:spPr>
          <a:xfrm>
            <a:off x="6071616" y="1124712"/>
            <a:ext cx="402336" cy="402336"/>
          </a:xfrm>
          <a:prstGeom prst="ellipse">
            <a:avLst/>
          </a:prstGeom>
          <a:solidFill>
            <a:srgbClr val="17352C"/>
          </a:solidFill>
          <a:ln/>
        </p:spPr>
      </p:sp>
      <p:pic>
        <p:nvPicPr>
          <p:cNvPr id="20" name="Image 6" descr="Sandboxed run (pass^k, seeds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22529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632704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Sandboxed run (pass^k, seeds)</a:t>
            </a:r>
            <a:endParaRPr lang="en-US" sz="1200" dirty="0"/>
          </a:p>
        </p:txBody>
      </p:sp>
      <p:pic>
        <p:nvPicPr>
          <p:cNvPr id="22" name="Image 7" descr="nex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164" y="1463040"/>
            <a:ext cx="192024" cy="19202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260336" y="1051560"/>
            <a:ext cx="1426464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</p:sp>
      <p:sp>
        <p:nvSpPr>
          <p:cNvPr id="24" name="iconbg-FaCheckDouble"/>
          <p:cNvSpPr/>
          <p:nvPr/>
        </p:nvSpPr>
        <p:spPr>
          <a:xfrm>
            <a:off x="7772400" y="112471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8" descr="Deterministic oracl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984" y="1225296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333488" y="15727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Deterministic oracles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Attack &amp; failure surfaces covered</a:t>
            </a:r>
            <a:endParaRPr lang="en-US" sz="1400" dirty="0"/>
          </a:p>
        </p:txBody>
      </p:sp>
      <p:sp>
        <p:nvSpPr>
          <p:cNvPr id="28" name="Shape 17"/>
          <p:cNvSpPr/>
          <p:nvPr/>
        </p:nvSpPr>
        <p:spPr>
          <a:xfrm>
            <a:off x="457200" y="2578608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iconbg-FaUserSecret"/>
          <p:cNvSpPr/>
          <p:nvPr/>
        </p:nvSpPr>
        <p:spPr>
          <a:xfrm>
            <a:off x="594360" y="2697480"/>
            <a:ext cx="384048" cy="384048"/>
          </a:xfrm>
          <a:prstGeom prst="ellipse">
            <a:avLst/>
          </a:prstGeom>
          <a:solidFill>
            <a:srgbClr val="E5533F"/>
          </a:solidFill>
          <a:ln/>
        </p:spPr>
      </p:sp>
      <p:pic>
        <p:nvPicPr>
          <p:cNvPr id="30" name="Image 9" descr="Prompt injec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" y="2793492"/>
            <a:ext cx="192024" cy="192024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1051560" y="2697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Prompt injection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59436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System-prompt override, direct and indirect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2560320" y="2578608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iconbg-FaDatabase"/>
          <p:cNvSpPr/>
          <p:nvPr/>
        </p:nvSpPr>
        <p:spPr>
          <a:xfrm>
            <a:off x="2697480" y="2697480"/>
            <a:ext cx="384048" cy="384048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35" name="Image 10" descr="RAG poisoni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3492" y="2793492"/>
            <a:ext cx="192024" cy="19202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154680" y="2697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RAG poisoning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269748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Injected knowledge-base content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4663440" y="2578608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iconbg-FaTools"/>
          <p:cNvSpPr/>
          <p:nvPr/>
        </p:nvSpPr>
        <p:spPr>
          <a:xfrm>
            <a:off x="4800600" y="2697480"/>
            <a:ext cx="384048" cy="384048"/>
          </a:xfrm>
          <a:prstGeom prst="ellipse">
            <a:avLst/>
          </a:prstGeom>
          <a:solidFill>
            <a:srgbClr val="2F8F6B"/>
          </a:solidFill>
          <a:ln/>
        </p:spPr>
      </p:sp>
      <p:pic>
        <p:nvPicPr>
          <p:cNvPr id="40" name="Image 11" descr="Tool &amp; memory misus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6612" y="2793492"/>
            <a:ext cx="192024" cy="192024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5257800" y="2697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Tool &amp; memory misuse</a:t>
            </a:r>
            <a:endParaRPr lang="en-US" sz="1300" dirty="0"/>
          </a:p>
        </p:txBody>
      </p:sp>
      <p:sp>
        <p:nvSpPr>
          <p:cNvPr id="42" name="Text 28"/>
          <p:cNvSpPr txBox="1"/>
          <p:nvPr/>
        </p:nvSpPr>
        <p:spPr>
          <a:xfrm>
            <a:off x="48006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Forbidden operations, stale-state injection</a:t>
            </a:r>
            <a:endParaRPr lang="en-US" sz="1200" dirty="0"/>
          </a:p>
        </p:txBody>
      </p:sp>
      <p:sp>
        <p:nvSpPr>
          <p:cNvPr id="43" name="Shape 29"/>
          <p:cNvSpPr/>
          <p:nvPr/>
        </p:nvSpPr>
        <p:spPr>
          <a:xfrm>
            <a:off x="6766560" y="2578608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iconbg-FaSearch"/>
          <p:cNvSpPr/>
          <p:nvPr/>
        </p:nvSpPr>
        <p:spPr>
          <a:xfrm>
            <a:off x="6903720" y="2697480"/>
            <a:ext cx="384048" cy="384048"/>
          </a:xfrm>
          <a:prstGeom prst="ellipse">
            <a:avLst/>
          </a:prstGeom>
          <a:solidFill>
            <a:srgbClr val="17352C"/>
          </a:solidFill>
          <a:ln/>
        </p:spPr>
      </p:sp>
      <p:pic>
        <p:nvPicPr>
          <p:cNvPr id="45" name="Image 12" descr="Hallucination trap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9732" y="2793492"/>
            <a:ext cx="192024" cy="192024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7360920" y="2697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Hallucination traps</a:t>
            </a:r>
            <a:endParaRPr lang="en-US" sz="1300" dirty="0"/>
          </a:p>
        </p:txBody>
      </p:sp>
      <p:sp>
        <p:nvSpPr>
          <p:cNvPr id="47" name="Text 32"/>
          <p:cNvSpPr txBox="1"/>
          <p:nvPr/>
        </p:nvSpPr>
        <p:spPr>
          <a:xfrm>
            <a:off x="690372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False premises; verbatim source quote per test</a:t>
            </a:r>
            <a:endParaRPr lang="en-US" sz="1200" dirty="0"/>
          </a:p>
        </p:txBody>
      </p:sp>
      <p:sp>
        <p:nvSpPr>
          <p:cNvPr id="48" name="Shape 33"/>
          <p:cNvSpPr/>
          <p:nvPr/>
        </p:nvSpPr>
        <p:spPr>
          <a:xfrm>
            <a:off x="457200" y="395020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9" name="Text 34"/>
          <p:cNvSpPr txBox="1"/>
          <p:nvPr/>
        </p:nvSpPr>
        <p:spPr>
          <a:xfrm>
            <a:off x="594360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Paired runs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seeded-defect variant tests sensitivity; clean control tests false positives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4663440" y="3950208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51" name="Text 36"/>
          <p:cNvSpPr txBox="1"/>
          <p:nvPr/>
        </p:nvSpPr>
        <p:spPr>
          <a:xfrm>
            <a:off x="4800600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Oracles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citation validity · source alignment · numeric support · forbidden calls · host allowlist · canary / state-diff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Statistical Analysis &amp; Release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Per-metric failure rate</a:t>
            </a:r>
            <a:endParaRPr lang="en-US" sz="1200" dirty="0"/>
          </a:p>
        </p:txBody>
      </p:sp>
      <p:pic>
        <p:nvPicPr>
          <p:cNvPr id="5" name="Image 0" descr="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96" y="1143000"/>
            <a:ext cx="201168" cy="201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9184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Exact 95% Clopper–Pearson interval</a:t>
            </a:r>
            <a:endParaRPr lang="en-US" sz="1200" dirty="0"/>
          </a:p>
        </p:txBody>
      </p:sp>
      <p:pic>
        <p:nvPicPr>
          <p:cNvPr id="8" name="Image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1143000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100584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Compare with risk appetite θ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θ = declared risk appetite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ACCEPTABLE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Upper bound ≤ θ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286000" y="2286000"/>
            <a:ext cx="3840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0" y="215798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Shape 11"/>
          <p:cNvSpPr/>
          <p:nvPr/>
        </p:nvSpPr>
        <p:spPr>
          <a:xfrm>
            <a:off x="3209544" y="2203704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205740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METRIC ACCEPTABLE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INSUFFICIENT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Lower ≤ θ &lt; Upper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286000" y="3017520"/>
            <a:ext cx="3840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0" y="288950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Shape 17"/>
          <p:cNvSpPr/>
          <p:nvPr/>
        </p:nvSpPr>
        <p:spPr>
          <a:xfrm>
            <a:off x="4123944" y="2935224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0" y="278892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008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INSUFFICIENT EVIDENCE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3520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REJECT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Lower bound &gt; θ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2286000" y="3749040"/>
            <a:ext cx="3840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480560" y="362102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Shape 23"/>
          <p:cNvSpPr/>
          <p:nvPr/>
        </p:nvSpPr>
        <p:spPr>
          <a:xfrm>
            <a:off x="4946904" y="3666744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0" y="352044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REJECT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206240" y="1828800"/>
            <a:ext cx="0" cy="2514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</a:ln>
        </p:spPr>
      </p:sp>
      <p:sp>
        <p:nvSpPr>
          <p:cNvPr id="31" name="Text 2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Bars = 95% interval · circle = point estimate. Not-evaluable verdicts are excluded, never silently passed.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Evidence, Auditability &amp; Human Sign-Off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SHA-256 hash-chained ledger: any edit, delete or reorder breaks the 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CLAIM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hash₀</a:t>
            </a:r>
            <a:endParaRPr lang="en-US" sz="1200" dirty="0"/>
          </a:p>
        </p:txBody>
      </p:sp>
      <p:pic>
        <p:nvPicPr>
          <p:cNvPr id="6" name="Image 0" descr="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563624"/>
            <a:ext cx="182880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65376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65376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TEST_CASE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hash ← prev</a:t>
            </a:r>
            <a:endParaRPr lang="en-US" sz="1200" dirty="0"/>
          </a:p>
        </p:txBody>
      </p:sp>
      <p:pic>
        <p:nvPicPr>
          <p:cNvPr id="9" name="Image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1563624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73552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73552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RUN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hash ← prev</a:t>
            </a:r>
            <a:endParaRPr lang="en-US" sz="1200" dirty="0"/>
          </a:p>
        </p:txBody>
      </p:sp>
      <p:pic>
        <p:nvPicPr>
          <p:cNvPr id="12" name="Image 2" descr="n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63624"/>
            <a:ext cx="182880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81728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681728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VERDICT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hash ← prev</a:t>
            </a:r>
            <a:endParaRPr lang="en-US" sz="1200" dirty="0"/>
          </a:p>
        </p:txBody>
      </p:sp>
      <p:pic>
        <p:nvPicPr>
          <p:cNvPr id="15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563624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9904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089904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hash ← prev</a:t>
            </a:r>
            <a:endParaRPr lang="en-US" sz="1200" dirty="0"/>
          </a:p>
        </p:txBody>
      </p:sp>
      <p:pic>
        <p:nvPicPr>
          <p:cNvPr id="18" name="Image 4" descr="n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563624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498080" y="1325880"/>
            <a:ext cx="11887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49808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SIGN-OFF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hash ← prev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57200" y="224028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22" name="iconbg-FaFileAlt"/>
          <p:cNvSpPr/>
          <p:nvPr/>
        </p:nvSpPr>
        <p:spPr>
          <a:xfrm>
            <a:off x="594360" y="235915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3" name="Image 5" descr="Reproducible evidence pa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2455164"/>
            <a:ext cx="192024" cy="19202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78992" y="235915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Reproducible evidence packs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594360" y="27889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Seeds, prompt hashes, model versions, raw I/O; JSON + Markdown export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3259836" y="224028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27" name="iconbg-FaUserCheck"/>
          <p:cNvSpPr/>
          <p:nvPr/>
        </p:nvSpPr>
        <p:spPr>
          <a:xfrm>
            <a:off x="3396996" y="235915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8" name="Image 6" descr="Human-only sign-off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2455164"/>
            <a:ext cx="192024" cy="19202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881628" y="235915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Human-only sign-off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3396996" y="27889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Reviewer queue; the sign-off event cannot be automated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062472" y="2240280"/>
            <a:ext cx="2624328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</p:sp>
      <p:sp>
        <p:nvSpPr>
          <p:cNvPr id="32" name="iconbg-FaHeartbeat"/>
          <p:cNvSpPr/>
          <p:nvPr/>
        </p:nvSpPr>
        <p:spPr>
          <a:xfrm>
            <a:off x="6199632" y="235915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3" name="Image 7" descr="Post-release monitor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2455164"/>
            <a:ext cx="192024" cy="19202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684264" y="235915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Post-release monitoring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6199632" y="27889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Canary hooks watch the release after approval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457200" y="3429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Live demo: run → verify → decide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1234440" y="3959352"/>
            <a:ext cx="66751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1078992" y="38039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107899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45720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Enter a risk scenario (OWASP LLM + RAG app)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2747772" y="38039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274777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212598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Generate and run tests (simulated)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4416552" y="38039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441655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379476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Review grounding, adversarial, tool-safety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6085332" y="38039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608533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546354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Policy engine: RELEASE / REJECT / INSUFFICIENT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7754112" y="380390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Text 41"/>
          <p:cNvSpPr txBox="1"/>
          <p:nvPr/>
        </p:nvSpPr>
        <p:spPr>
          <a:xfrm>
            <a:off x="775411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713232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Reviewer signs off; download evidence pack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F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Guard">
  <a:themeElements>
    <a:clrScheme name="LLMGuard">
      <a:dk1>
        <a:srgbClr val="0B1F1A"/>
      </a:dk1>
      <a:lt1>
        <a:srgbClr val="FFFFFF"/>
      </a:lt1>
      <a:dk2>
        <a:srgbClr val="17352C"/>
      </a:dk2>
      <a:lt2>
        <a:srgbClr val="EAF4EF"/>
      </a:lt2>
      <a:accent1>
        <a:srgbClr val="3DDC97"/>
      </a:accent1>
      <a:accent2>
        <a:srgbClr val="2F8F6B"/>
      </a:accent2>
      <a:accent3>
        <a:srgbClr val="F5B700"/>
      </a:accent3>
      <a:accent4>
        <a:srgbClr val="E5533F"/>
      </a:accent4>
      <a:accent5>
        <a:srgbClr val="6B8F84"/>
      </a:accent5>
      <a:accent6>
        <a:srgbClr val="9FD8C0"/>
      </a:accent6>
      <a:hlink>
        <a:srgbClr val="2F8F6B"/>
      </a:hlink>
      <a:folHlink>
        <a:srgbClr val="6B8F84"/>
      </a:folHlink>
    </a:clrScheme>
    <a:fontScheme name="LLM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LLMGUARD — Team NPC</dc:title>
  <dc:subject>PptxGenJS Presentation</dc:subject>
  <dc:creator>PptxGenJS</dc:creator>
  <cp:lastModifiedBy>PptxGenJS</cp:lastModifiedBy>
  <cp:revision>1</cp:revision>
  <dcterms:created xsi:type="dcterms:W3CDTF">2026-10-31T08:19:48Z</dcterms:created>
  <dcterms:modified xsi:type="dcterms:W3CDTF">2026-10-31T08:19:48Z</dcterms:modified>
</cp:coreProperties>
</file>